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27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448831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0D2B3E"/>
          </a:solidFill>
          <a:ln w="12700">
            <a:solidFill>
              <a:srgbClr val="0D2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57200"/>
            <a:ext cx="429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04088" y="4572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9A8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SHERPA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88696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Wealth Advisory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280160"/>
            <a:ext cx="4206240" cy="27432"/>
          </a:xfrm>
          <a:prstGeom prst="rect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46304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5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WE ARE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74320" y="1783080"/>
            <a:ext cx="4251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FinSherpa is a wealth advisory practice built for GCC professionals — senior leaders who have scaled organisations but not yet scaled their personal wealth with the same rigour.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4320" y="292608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5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DO DIFFERENTLY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4320" y="3337560"/>
            <a:ext cx="201168" cy="2011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331012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Institutional-grade portfolio strategy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74320" y="3813048"/>
            <a:ext cx="201168" cy="2011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78561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 harvesting &amp; GIFT City structuring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74320" y="4288536"/>
            <a:ext cx="201168" cy="2011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426110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AIF &amp; alternative asset allocation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74320" y="4764024"/>
            <a:ext cx="201168" cy="2011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473659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Estate planning for senior directors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274320" y="5285232"/>
            <a:ext cx="4206240" cy="27432"/>
          </a:xfrm>
          <a:prstGeom prst="rect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5394960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Serving Chennai's GCC ecosystem since 2022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029200" y="36576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2B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 Ravindran,</a:t>
            </a:r>
            <a:endParaRPr lang="en-US" sz="2600" dirty="0"/>
          </a:p>
        </p:txBody>
      </p:sp>
      <p:sp>
        <p:nvSpPr>
          <p:cNvPr id="22" name="Shape 20"/>
          <p:cNvSpPr/>
          <p:nvPr/>
        </p:nvSpPr>
        <p:spPr>
          <a:xfrm>
            <a:off x="5029200" y="932688"/>
            <a:ext cx="6583680" cy="27432"/>
          </a:xfrm>
          <a:prstGeom prst="rect">
            <a:avLst/>
          </a:prstGeom>
          <a:solidFill>
            <a:srgbClr val="E8E4DC"/>
          </a:solidFill>
          <a:ln w="12700">
            <a:solidFill>
              <a:srgbClr val="E8E4D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0" y="1097280"/>
            <a:ext cx="67665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1250" dirty="0">
                <a:solidFill>
                  <a:srgbClr val="7A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am reaching out because of what Ashley GCC has accomplished under your leadership — scaling to 550+ professionals in under 30 months is a rare operational achievement.</a:t>
            </a:r>
            <a:endParaRPr lang="en-US" sz="1250" dirty="0"/>
          </a:p>
          <a:p>
            <a:pPr marL="0" indent="0">
              <a:spcAft>
                <a:spcPts val="800"/>
              </a:spcAft>
              <a:buNone/>
            </a:pPr>
            <a:endParaRPr lang="en-US" sz="12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50" dirty="0">
                <a:solidFill>
                  <a:srgbClr val="7A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wealth advisor specialising in Chennai's GCC ecosystem, I work with Senior Directors who have built institutional-grade delivery systems, but haven't yet applied that same precision to their personal financial architecture.</a:t>
            </a:r>
            <a:endParaRPr lang="en-US" sz="1250" dirty="0"/>
          </a:p>
          <a:p>
            <a:pPr marL="0" indent="0">
              <a:spcAft>
                <a:spcPts val="800"/>
              </a:spcAft>
              <a:buNone/>
            </a:pPr>
            <a:endParaRPr lang="en-US" sz="12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50" dirty="0">
                <a:solidFill>
                  <a:srgbClr val="7A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I've prepared a short 3-point strategic briefing specifically for your profile — no sales pitch, just research on where high-earners at your level are gaining (and losing) value in 2026.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029200" y="4389120"/>
            <a:ext cx="6766560" cy="1371600"/>
          </a:xfrm>
          <a:prstGeom prst="rect">
            <a:avLst/>
          </a:prstGeom>
          <a:solidFill>
            <a:srgbClr val="E6F4F6"/>
          </a:solidFill>
          <a:ln w="12700">
            <a:solidFill>
              <a:srgbClr val="E6F4F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29200" y="4389120"/>
            <a:ext cx="73152" cy="13716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57800" y="4453128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257800" y="4754880"/>
            <a:ext cx="6309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 you be open to a 45-minute Financial Stress Test — a no-pressure benchmark of your current portfolio against the 2026 Institutional Standard for GCC Leaders?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029200" y="598932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regards,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A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FinSherpa Wealth Advisory · finsherpa.in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2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FinSherpa for GCC Leaders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89611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advisory practice built for Chennai's GCC ecosystem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2651760" cy="1463040"/>
          </a:xfrm>
          <a:prstGeom prst="rect">
            <a:avLst/>
          </a:prstGeom>
          <a:solidFill>
            <a:srgbClr val="FFFFFF">
              <a:alpha val="94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417320"/>
            <a:ext cx="265176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60020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₹80L+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365760" y="23317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B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client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9B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income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46120" y="1417320"/>
            <a:ext cx="2651760" cy="1463040"/>
          </a:xfrm>
          <a:prstGeom prst="rect">
            <a:avLst/>
          </a:prstGeom>
          <a:solidFill>
            <a:srgbClr val="FFFFFF">
              <a:alpha val="94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46120" y="1417320"/>
            <a:ext cx="265176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46120" y="160020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550+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246120" y="23317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B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Ashley GCC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9B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professionals served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126480" y="1417320"/>
            <a:ext cx="2651760" cy="1463040"/>
          </a:xfrm>
          <a:prstGeom prst="rect">
            <a:avLst/>
          </a:prstGeom>
          <a:solidFill>
            <a:srgbClr val="FFFFFF">
              <a:alpha val="94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26480" y="1417320"/>
            <a:ext cx="265176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0" y="160020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3–5%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6126480" y="23317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B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annual gain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9B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tax structuring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006840" y="1417320"/>
            <a:ext cx="2651760" cy="1463040"/>
          </a:xfrm>
          <a:prstGeom prst="rect">
            <a:avLst/>
          </a:prstGeom>
          <a:solidFill>
            <a:srgbClr val="FFFFFF">
              <a:alpha val="94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06840" y="1417320"/>
            <a:ext cx="265176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006840" y="160020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2026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9006840" y="23317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B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GIFT City &amp;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9B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AIF expertise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65760" y="3154680"/>
            <a:ext cx="3657600" cy="2651760"/>
          </a:xfrm>
          <a:prstGeom prst="rect">
            <a:avLst/>
          </a:prstGeom>
          <a:solidFill>
            <a:srgbClr val="015F6E"/>
          </a:solidFill>
          <a:ln w="635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3154680"/>
            <a:ext cx="365760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337560"/>
            <a:ext cx="438912" cy="438912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502920" y="391363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 &amp; Structuring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502920" y="4325112"/>
            <a:ext cx="3383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B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gains harvesting, debt fund optimisation, and GIFT City dollar allocation — all designed around the 30% bracket reality of GCC directors.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4297680" y="3154680"/>
            <a:ext cx="3657600" cy="2651760"/>
          </a:xfrm>
          <a:prstGeom prst="rect">
            <a:avLst/>
          </a:prstGeom>
          <a:solidFill>
            <a:srgbClr val="015F6E"/>
          </a:solidFill>
          <a:ln w="635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297680" y="3154680"/>
            <a:ext cx="365760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2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0560" y="3337560"/>
            <a:ext cx="438912" cy="438912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4434840" y="391363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Governance</a:t>
            </a:r>
            <a:endParaRPr lang="en-US" sz="1400" dirty="0"/>
          </a:p>
        </p:txBody>
      </p:sp>
      <p:sp>
        <p:nvSpPr>
          <p:cNvPr id="30" name="Text 26"/>
          <p:cNvSpPr/>
          <p:nvPr/>
        </p:nvSpPr>
        <p:spPr>
          <a:xfrm>
            <a:off x="4434840" y="4325112"/>
            <a:ext cx="3383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B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replace pseudo-diversified SIP collections with a unified strategy — AIFs, fixed income, and equity in proportions that match your phase and velocity.</a:t>
            </a:r>
            <a:endParaRPr lang="en-US" sz="1100" dirty="0"/>
          </a:p>
        </p:txBody>
      </p:sp>
      <p:sp>
        <p:nvSpPr>
          <p:cNvPr id="31" name="Shape 27"/>
          <p:cNvSpPr/>
          <p:nvPr/>
        </p:nvSpPr>
        <p:spPr>
          <a:xfrm>
            <a:off x="8229600" y="3154680"/>
            <a:ext cx="3657600" cy="2651760"/>
          </a:xfrm>
          <a:prstGeom prst="rect">
            <a:avLst/>
          </a:prstGeom>
          <a:solidFill>
            <a:srgbClr val="015F6E"/>
          </a:solidFill>
          <a:ln w="635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8229600" y="3154680"/>
            <a:ext cx="3657600" cy="640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pic>
        <p:nvPicPr>
          <p:cNvPr id="3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0" y="3337560"/>
            <a:ext cx="438912" cy="438912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8366760" y="391363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Estate &amp; Legacy</a:t>
            </a:r>
            <a:endParaRPr lang="en-US" sz="1400" dirty="0"/>
          </a:p>
        </p:txBody>
      </p:sp>
      <p:sp>
        <p:nvSpPr>
          <p:cNvPr id="35" name="Text 30"/>
          <p:cNvSpPr/>
          <p:nvPr/>
        </p:nvSpPr>
        <p:spPr>
          <a:xfrm>
            <a:off x="8366760" y="4325112"/>
            <a:ext cx="3383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B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your corpus grows, governance matters. We help you move from "accumulation mode" to a documented wealth plan — wills, trusts, and succession thinking.</a:t>
            </a:r>
            <a:endParaRPr lang="en-US" sz="1100" dirty="0"/>
          </a:p>
        </p:txBody>
      </p:sp>
      <p:sp>
        <p:nvSpPr>
          <p:cNvPr id="36" name="Text 31"/>
          <p:cNvSpPr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FinSherpa Wealth Advisory · Chennai · finsherpa.in · 2026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D2B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Financial Stress Test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9611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A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45-minute institutional benchmark — at no cost, with no obligation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365760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4173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Audit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920240"/>
            <a:ext cx="365760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4DC"/>
            </a:solidFill>
            <a:prstDash val="solid"/>
          </a:ln>
          <a:effectLst>
            <a:outerShdw blurRad="1016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920240"/>
            <a:ext cx="54864" cy="3520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121408"/>
            <a:ext cx="201168" cy="20116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05740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portfolio structure vs. 2026 Institutional Standard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779776"/>
            <a:ext cx="201168" cy="20116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2715768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 efficiency — capital gains &amp; debt fund losses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438144"/>
            <a:ext cx="201168" cy="20116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3374136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Overseas &amp; GIFT City exposure gap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4096512"/>
            <a:ext cx="201168" cy="20116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4032504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Pseudo-diversification diagnosis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4754880"/>
            <a:ext cx="201168" cy="20116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4690872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Estate &amp; succession readiness score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297680" y="1417320"/>
            <a:ext cx="3657600" cy="5029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97680" y="14173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Receive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297680" y="1920240"/>
            <a:ext cx="365760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4DC"/>
            </a:solidFill>
            <a:prstDash val="solid"/>
          </a:ln>
          <a:effectLst>
            <a:outerShdw blurRad="1016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297680" y="1920240"/>
            <a:ext cx="54864" cy="35204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80560" y="2121408"/>
            <a:ext cx="201168" cy="20116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0600" y="205740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one-page Benchmark Report for your portfolio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480560" y="2779776"/>
            <a:ext cx="201168" cy="20116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0600" y="2715768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 Leakage estimate — actual rupee figure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480560" y="3438144"/>
            <a:ext cx="201168" cy="20116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00600" y="3374136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immediate optimisation moves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480560" y="4096512"/>
            <a:ext cx="201168" cy="20116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00600" y="4032504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GIFT City opportunity assessment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480560" y="4754880"/>
            <a:ext cx="201168" cy="20116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00600" y="4690872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AIF eligibility check (Category III)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229600" y="1417320"/>
            <a:ext cx="3657600" cy="502920"/>
          </a:xfrm>
          <a:prstGeom prst="rect">
            <a:avLst/>
          </a:prstGeom>
          <a:solidFill>
            <a:srgbClr val="0D2B3E"/>
          </a:solidFill>
          <a:ln w="12700">
            <a:solidFill>
              <a:srgbClr val="0D2B3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229600" y="14173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Keep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8229600" y="1920240"/>
            <a:ext cx="365760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4DC"/>
            </a:solidFill>
            <a:prstDash val="solid"/>
          </a:ln>
          <a:effectLst>
            <a:outerShdw blurRad="1016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8229600" y="1920240"/>
            <a:ext cx="54864" cy="3520440"/>
          </a:xfrm>
          <a:prstGeom prst="rect">
            <a:avLst/>
          </a:prstGeom>
          <a:solidFill>
            <a:srgbClr val="0D2B3E"/>
          </a:solidFill>
          <a:ln w="12700">
            <a:solidFill>
              <a:srgbClr val="0D2B3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412480" y="2121408"/>
            <a:ext cx="201168" cy="201168"/>
          </a:xfrm>
          <a:prstGeom prst="ellipse">
            <a:avLst/>
          </a:prstGeom>
          <a:solidFill>
            <a:srgbClr val="0D2B3E"/>
          </a:solidFill>
          <a:ln w="12700">
            <a:solidFill>
              <a:srgbClr val="0D2B3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732520" y="205740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control — no commitment to proceed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8412480" y="2779776"/>
            <a:ext cx="201168" cy="201168"/>
          </a:xfrm>
          <a:prstGeom prst="ellipse">
            <a:avLst/>
          </a:prstGeom>
          <a:solidFill>
            <a:srgbClr val="0D2B3E"/>
          </a:solidFill>
          <a:ln w="12700">
            <a:solidFill>
              <a:srgbClr val="0D2B3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732520" y="2715768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is yours to keep, regardless of outcome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8412480" y="3438144"/>
            <a:ext cx="201168" cy="201168"/>
          </a:xfrm>
          <a:prstGeom prst="ellipse">
            <a:avLst/>
          </a:prstGeom>
          <a:solidFill>
            <a:srgbClr val="0D2B3E"/>
          </a:solidFill>
          <a:ln w="12700">
            <a:solidFill>
              <a:srgbClr val="0D2B3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732520" y="3374136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pressure to invest or transfer assets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8412480" y="4096512"/>
            <a:ext cx="201168" cy="201168"/>
          </a:xfrm>
          <a:prstGeom prst="ellipse">
            <a:avLst/>
          </a:prstGeom>
          <a:solidFill>
            <a:srgbClr val="0D2B3E"/>
          </a:solidFill>
          <a:ln w="12700">
            <a:solidFill>
              <a:srgbClr val="0D2B3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732520" y="4032504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product sales during the session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8412480" y="4754880"/>
            <a:ext cx="201168" cy="201168"/>
          </a:xfrm>
          <a:prstGeom prst="ellipse">
            <a:avLst/>
          </a:prstGeom>
          <a:solidFill>
            <a:srgbClr val="0D2B3E"/>
          </a:solidFill>
          <a:ln w="12700">
            <a:solidFill>
              <a:srgbClr val="0D2B3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732520" y="4690872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benchmark vs. GCC director cohort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365760" y="5669280"/>
            <a:ext cx="11430000" cy="914400"/>
          </a:xfrm>
          <a:prstGeom prst="rect">
            <a:avLst/>
          </a:prstGeom>
          <a:solidFill>
            <a:srgbClr val="0D2B3E"/>
          </a:solidFill>
          <a:ln w="12700">
            <a:solidFill>
              <a:srgbClr val="0D2B3E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65760" y="5669280"/>
            <a:ext cx="73152" cy="9144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40080" y="5733288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Ready to see where you stand?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40080" y="61264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Reply to this message or reach us at finsherpa.in · WhatsApp / Call available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7772400" y="5760720"/>
            <a:ext cx="3657600" cy="6858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772400" y="576072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the Stress Test →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365760" y="6583680"/>
            <a:ext cx="1143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FinSherpa Wealth Advisory · Confidential ·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506</Words>
  <Application>Microsoft Office PowerPoint</Application>
  <PresentationFormat>Widescreen</PresentationFormat>
  <Paragraphs>69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Georgia</vt:lpstr>
      <vt:lpstr>Trebuchet MS</vt:lpstr>
      <vt:lpstr>Office Theme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BHAVITHRA THIRUNAVUKKARASU</cp:lastModifiedBy>
  <cp:revision>2</cp:revision>
  <dcterms:created xsi:type="dcterms:W3CDTF">2026-04-09T15:48:38Z</dcterms:created>
  <dcterms:modified xsi:type="dcterms:W3CDTF">2026-04-10T01:59:43Z</dcterms:modified>
</cp:coreProperties>
</file>